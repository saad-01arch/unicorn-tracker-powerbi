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90F21"/>
          </a:solidFill>
          <a:ln w="12700">
            <a:solidFill>
              <a:srgbClr val="090F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Unicorn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54203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BFDC"/>
                </a:solidFill>
              </a:rPr>
              <a:t>Power BI Capstone Project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BFDC"/>
                </a:solidFill>
              </a:rPr>
              <a:t>1,250 unicorns · 30 countries · 3 dashboard pages · 5 key questions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63640" y="685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</a:rPr>
              <a:t>PROJECT SUMMARY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2560320" cy="594360"/>
          </a:xfrm>
          <a:prstGeom prst="rect">
            <a:avLst/>
          </a:prstGeom>
          <a:solidFill>
            <a:srgbClr val="162147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097280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17043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0" y="1252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8"/>
                </a:solidFill>
              </a:rPr>
              <a:t>data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847088"/>
            <a:ext cx="2560320" cy="594360"/>
          </a:xfrm>
          <a:prstGeom prst="rect">
            <a:avLst/>
          </a:prstGeom>
          <a:solidFill>
            <a:srgbClr val="162147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847088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2024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0" y="200253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8"/>
                </a:solidFill>
              </a:rPr>
              <a:t>countries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2596896"/>
            <a:ext cx="2560320" cy="594360"/>
          </a:xfrm>
          <a:prstGeom prst="rect">
            <a:avLst/>
          </a:prstGeom>
          <a:solidFill>
            <a:srgbClr val="162147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596896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670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32320" y="27523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8"/>
                </a:solidFill>
              </a:rPr>
              <a:t>dashboard pages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346704"/>
            <a:ext cx="2560320" cy="594360"/>
          </a:xfrm>
          <a:prstGeom prst="rect">
            <a:avLst/>
          </a:prstGeom>
          <a:solidFill>
            <a:srgbClr val="162147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346704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4198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35021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8"/>
                </a:solidFill>
              </a:rPr>
              <a:t>questions answered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4096512"/>
            <a:ext cx="2560320" cy="594360"/>
          </a:xfrm>
          <a:prstGeom prst="rect">
            <a:avLst/>
          </a:prstGeom>
          <a:solidFill>
            <a:srgbClr val="162147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4096512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1696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21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3232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8"/>
                </a:solidFill>
              </a:rPr>
              <a:t>DAX measures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070"/>
                </a:solidFill>
              </a:rPr>
              <a:t>Presented by Saad  ·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 QUESTIONS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What This Dashboard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Each page of the Power BI dashboard is built around one or more of these questions.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475488" cy="548640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Q1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42416" y="143560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Which countries dominate the unicorn ecosystem by count and total valuation?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1691640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Page 1 — Global Overview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1371600" cy="256032"/>
          </a:xfrm>
          <a:prstGeom prst="rect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508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56DB"/>
                </a:solidFill>
              </a:rPr>
              <a:t>View in dashboard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029968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029968"/>
            <a:ext cx="54864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29968"/>
            <a:ext cx="475488" cy="54864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2996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Q2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209397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Which sectors produce the most unicorns and lead in average valuation?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2350008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Page 2 — Sector &amp; Speed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2167128"/>
            <a:ext cx="1371600" cy="256032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2167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</a:rPr>
              <a:t>View in dashboard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688336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688336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688336"/>
            <a:ext cx="475488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8833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Q3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" y="275234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How has unicorn creation trended year-over-year, and did COVID affect it?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" y="3008376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Page 3 — Unicorn Boom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2825496"/>
            <a:ext cx="1371600" cy="256032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2825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</a:rPr>
              <a:t>View in dashboard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346704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346704"/>
            <a:ext cx="54864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346704"/>
            <a:ext cx="475488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34670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Q4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42416" y="341071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How long does it take to become a unicorn — and does sector or region affect speed?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2416" y="3666744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Page 2 — Sector &amp; Speed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78040" y="3483864"/>
            <a:ext cx="1371600" cy="256032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</a:rPr>
              <a:t>View in dashboard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4005072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005072"/>
            <a:ext cx="54864" cy="54864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005072"/>
            <a:ext cx="475488" cy="548640"/>
          </a:xfrm>
          <a:prstGeom prst="rect">
            <a:avLst/>
          </a:prstGeom>
          <a:solidFill>
            <a:srgbClr val="E05C4B">
              <a:alpha val="12000"/>
            </a:srgbClr>
          </a:solidFill>
          <a:ln w="12700">
            <a:solidFill>
              <a:srgbClr val="E05C4B">
                <a:alpha val="1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0507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C4B"/>
                </a:solidFill>
              </a:rPr>
              <a:t>Q5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" y="40690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What is the survival rate of unicorns — active vs acquired vs IPO vs dead?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42416" y="4325112"/>
            <a:ext cx="5852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Page 1 — Global Overview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78040" y="4142232"/>
            <a:ext cx="1371600" cy="256032"/>
          </a:xfrm>
          <a:prstGeom prst="rect">
            <a:avLst/>
          </a:prstGeom>
          <a:solidFill>
            <a:srgbClr val="E05C4B">
              <a:alpha val="10000"/>
            </a:srgbClr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78040" y="4142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5C4B"/>
                </a:solidFill>
              </a:rPr>
              <a:t>View in dashboard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PAGE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Global 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Which countries dominate the unicorn ecosystem by count and total valuation?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53312"/>
            <a:ext cx="54864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904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5,000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Unicorns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353312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353312"/>
            <a:ext cx="54864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4904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$4T+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33472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Valuation $B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35424" y="1353312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35424" y="1353312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4904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94%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72584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Survival Rate 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74536" y="1353312"/>
            <a:ext cx="21031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74536" y="1353312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1696" y="14904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487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11696" y="1947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Decacorn Count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51206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514600"/>
            <a:ext cx="512064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59689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Clustered Bar Chart — Top countries by unicorn count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287121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Field used: Country_Summary[Country]  ×  Measures[Total Unicorns]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1546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89888" y="3182112"/>
            <a:ext cx="4389120" cy="1828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4472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China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89888" y="3474720"/>
            <a:ext cx="2377440" cy="1828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3989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India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89888" y="3767328"/>
            <a:ext cx="1097280" cy="182880"/>
          </a:xfrm>
          <a:prstGeom prst="rect">
            <a:avLst/>
          </a:prstGeom>
          <a:solidFill>
            <a:srgbClr val="4B7BF5"/>
          </a:solidFill>
          <a:ln w="12700">
            <a:solidFill>
              <a:srgbClr val="4B7B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03250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89888" y="4059936"/>
            <a:ext cx="731520" cy="182880"/>
          </a:xfrm>
          <a:prstGeom prst="rect">
            <a:avLst/>
          </a:prstGeom>
          <a:solidFill>
            <a:srgbClr val="8BA4DC"/>
          </a:solidFill>
          <a:ln w="12700">
            <a:solidFill>
              <a:srgbClr val="8BA4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3251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Germany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89888" y="4352544"/>
            <a:ext cx="457200" cy="182880"/>
          </a:xfrm>
          <a:prstGeom prst="rect">
            <a:avLst/>
          </a:prstGeom>
          <a:solidFill>
            <a:srgbClr val="8BA4DC"/>
          </a:solidFill>
          <a:ln w="12700">
            <a:solidFill>
              <a:srgbClr val="8BA4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2514600"/>
            <a:ext cx="29260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60720" y="2514600"/>
            <a:ext cx="292608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5968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Donut Chart — Unicorn status breakdown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97880" y="287121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Field: Unicorn_Master[Status]  ×  Measures[Total Unicorns]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97880" y="3163824"/>
            <a:ext cx="146304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3127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Active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06640" y="31272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62%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97880" y="3511296"/>
            <a:ext cx="146304" cy="1463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08192" y="3474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Acquired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06640" y="3474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18%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97880" y="3858768"/>
            <a:ext cx="146304" cy="1463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08192" y="3822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IPO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06640" y="38221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14%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97880" y="4206240"/>
            <a:ext cx="146304" cy="14630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08192" y="41696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Dead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06640" y="4169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5C4B"/>
                </a:solidFill>
              </a:rPr>
              <a:t>6%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C7D7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965192"/>
            <a:ext cx="7955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6DB"/>
                </a:solidFill>
              </a:rPr>
              <a:t>Slicers on this page:  Sector (dropdown)   ·   Region (dropdown)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Q1 ANSWER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USA and China lead. India is the rising third.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Which countries dominate the unicorn ecosystem by count and total valuation?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53312"/>
            <a:ext cx="54864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90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38%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1947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USA share of all unicorns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5331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53312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90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18%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1947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China share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53312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490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1947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India share — fastest growing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1460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4261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USA dominates in breadth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291693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474 unicorns spread across Fintech, SaaS, AI, Health Tech. Silicon Valley + New York drive the majority.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5146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514600"/>
            <a:ext cx="26517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64261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China concentrated in 2 sectors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83280" y="291693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228 unicorns, but 60% are in E-commerce and Fintech. Beijing and Shanghai are the only major hubs.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5146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514600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64261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India fastest-growing ecosystem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2200" y="291693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100 unicorns, but 70% emerged after 2018. Bangalore leads. Fintech and SaaS dominate.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50208"/>
            <a:ext cx="82296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950208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041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Key Takeaway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2793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top 3 countries — USA, China, India — account for 64% of all unicorns globally. The remaining 26 countries share 36%. Ecosystem concentration is extreme.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PAGE 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Sector &amp; Speed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Which sectors lead in count and valuation — and how quickly do they reach $1B?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53312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90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7.3 yrs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1947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Time to Unicorn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5331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53312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90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2.8 yrs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1947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Fastest (AI/ML)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53312"/>
            <a:ext cx="54864" cy="100584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490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11.2 yrs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1947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Slowest (Biotech)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14600"/>
            <a:ext cx="26060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5968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Treemap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2889504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Unicorns by sector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Group: Sector_Summary[Sector]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Size: Measures[Total Unicorns]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Fintech is the largest block, followed by E-commerce and SaaS.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73552" y="251460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73552" y="2514600"/>
            <a:ext cx="26060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25968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Clustered Column Chart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10712" y="2889504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Avg valuation by sector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X: Sector_Summary[Sector]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Y: Measures[Avg Valuation $B]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Space Tech and AI/ML have the highest average valuations per company.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251460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2514600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5968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Scatter Chart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889504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Speed vs value by sector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X: Avg Time to Unicorn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Y: Avg Valuation $B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Size: Total Unicorns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Shows if faster sectors also produce higher valuations.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965192"/>
            <a:ext cx="7955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Slicers on this page:  Status (dropdown)   ·   Region (dropdown)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Q2 + Q4 ANSWER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Fintech leads in count. AI/ML leads in speed and value.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Q2 — Which sectors produce the most unicorns?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89888"/>
            <a:ext cx="26517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1790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Fintech — volume king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79222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22% of all unicorns. Driven by payments, neobanks, lending platforms, and crypto.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89888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89888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51790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E-commerce — runner up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0" y="179222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12% share, concentrated in China and USA. Mostly B2C marketplace and logistics plays.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89888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89888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1790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AI/ML — smallest but richest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72200" y="179222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7% of count but highest avg valuation at $7.4B per company — 40% above the sector mean.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633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Q4 — How long does it take?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44368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44368"/>
            <a:ext cx="1554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175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AI / 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</a:rPr>
              <a:t>2.8 yrs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Fast capital, clear product-market fit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30552" y="2944368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130552" y="2944368"/>
            <a:ext cx="15544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21992" y="30175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SaaS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21992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6.8 yrs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221992" y="3657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Steady growth, recurring revenue model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03904" y="2944368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03904" y="2944368"/>
            <a:ext cx="155448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95344" y="30175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Fintech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95344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6DB"/>
                </a:solidFill>
              </a:rPr>
              <a:t>7.1 yrs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895344" y="3657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Regulatory hurdles slow the journey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77256" y="2944368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77256" y="2944368"/>
            <a:ext cx="15544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68696" y="30175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Cleantech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68696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9.1 yrs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68696" y="3657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Long R&amp;D and infrastructure cycles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50608" y="2944368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50608" y="2944368"/>
            <a:ext cx="1554480" cy="4572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30175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Biotech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42048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C4B"/>
                </a:solidFill>
              </a:rPr>
              <a:t>11.2 yrs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242048" y="3657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Trials, approvals add years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663440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68172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Sector choice directly impacts both how fast you become a unicorn and how valuable you become. AI/ML companies are 4× faster than Biotech.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PAGE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Unicorn Boom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How has unicorn creation trended year-over-year — and what happened in 2021?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53312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90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280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1947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New unicorns in 2021 (peak)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5331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53312"/>
            <a:ext cx="54864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90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3×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1947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vs any pre-2019 year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53312"/>
            <a:ext cx="54864" cy="100584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490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YoY 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1947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Measures[YoY Growth %]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3886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14600"/>
            <a:ext cx="3886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5968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Line Chart — New unicorns per year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2889504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X: Yearly_Trends[Year]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Y1: Measures[New Unicorns This Year]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Y2: Measures[Cumulative Unicorns] — secondary axis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Shows the dramatic spike in 2021 and the drop-off in 2022–23.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26280" y="251460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2514600"/>
            <a:ext cx="23774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9689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Area Chart — Funding by region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2889504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X: Year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Y: Total_New_Valuation_USD_B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Legend: Top_Region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Shows which region drove the 2021 boom in funding.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86600" y="251460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86600" y="2514600"/>
            <a:ext cx="1600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25968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Column Chart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23760" y="2889504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Top sector per year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X: Year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Y: New_Unicorns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Legend: Top_Sector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965192"/>
            <a:ext cx="7955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Slicer on this page:  Year (list slider — 1999 to 2024)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Q3 + Q5 ANSWER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2021 was the peak. 94% of unicorns survive.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Q3 — Year-over-year trend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89888"/>
            <a:ext cx="155448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538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Before 2015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7373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Slow build — fewer than 50 new unicorns per year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30552" y="1389888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30552" y="1389888"/>
            <a:ext cx="155448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03704" y="14538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6DB"/>
                </a:solidFill>
              </a:rPr>
              <a:t>2015–2019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03704" y="17373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Steady growth — VC boom, avg 70 new unicorns per year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03904" y="1389888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03904" y="1389888"/>
            <a:ext cx="15544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4538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2020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77056" y="17373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COVID dip — deals slowed in Q1/Q2 then recovered fast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7256" y="1389888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7256" y="1389888"/>
            <a:ext cx="15544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0408" y="14538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2021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50408" y="17373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PEAK — 280 unicorns. Near-zero rates fuelled the boom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50608" y="1389888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50608" y="1389888"/>
            <a:ext cx="1554480" cy="4572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4538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5C4B"/>
                </a:solidFill>
              </a:rPr>
              <a:t>2022–2024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23760" y="17373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Correction — rate hikes cut funding, 57% drop from peak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27249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Q5 — Survival rate of unicorns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017520"/>
            <a:ext cx="19202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7280" y="3145536"/>
            <a:ext cx="658368" cy="65836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145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62%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3,100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6928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Active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" y="43616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Still private, growing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32888" y="30175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32888" y="3017520"/>
            <a:ext cx="192024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72968" y="3145536"/>
            <a:ext cx="658368" cy="658368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72968" y="3145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</a:rPr>
              <a:t>18%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642616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900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642616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Acquired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06040" y="43616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Bought out — mostly successful exits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08576" y="30175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08576" y="3017520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48656" y="3145536"/>
            <a:ext cx="658368" cy="658368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48656" y="3145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14%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18304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700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18304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IPO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81728" y="43616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Went public — highest prestige exit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84264" y="30175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684264" y="3017520"/>
            <a:ext cx="1920240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24344" y="3145536"/>
            <a:ext cx="658368" cy="658368"/>
          </a:xfrm>
          <a:prstGeom prst="ellipse">
            <a:avLst/>
          </a:prstGeom>
          <a:solidFill>
            <a:srgbClr val="E05C4B">
              <a:alpha val="15000"/>
            </a:srgbClr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24344" y="3145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C4B"/>
                </a:solidFill>
              </a:rPr>
              <a:t>6%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793992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300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93992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Dead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757416" y="43616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Shut down after reaching $1B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57200" y="4572000"/>
            <a:ext cx="822960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572000"/>
            <a:ext cx="54864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60857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94% survival rate — reaching unicorn status is a very strong predictor of long-term success. Only 1 in 17 unicorns ultimately shuts down.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8"/>
                </a:solidFill>
              </a:rPr>
              <a:t>Five questions, five clear answers from the Power BI dashboard.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D1F4A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Q1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0432" y="12618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USA + China = 56% of all unicorns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15179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8"/>
                </a:solidFill>
              </a:rPr>
              <a:t>North America dominates in volume; concentration is extreme across just 3 countries.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8229600" cy="640080"/>
          </a:xfrm>
          <a:prstGeom prst="rect">
            <a:avLst/>
          </a:prstGeom>
          <a:solidFill>
            <a:srgbClr val="0D1F4A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47672"/>
            <a:ext cx="54864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039112"/>
            <a:ext cx="457200" cy="4572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Q2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70432" y="202082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Fintech leads volume, AI/ML leads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2768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8"/>
                </a:solidFill>
              </a:rPr>
              <a:t>Fintech = 22% of unicorns. AI/ML averages $7.4B valuation — 40% above the overall mean.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8229600" cy="640080"/>
          </a:xfrm>
          <a:prstGeom prst="rect">
            <a:avLst/>
          </a:prstGeom>
          <a:solidFill>
            <a:srgbClr val="0D1F4A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06624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798064"/>
            <a:ext cx="457200" cy="4572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Q3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70432" y="27797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2021 was the unicorn supercycle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30358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8"/>
                </a:solidFill>
              </a:rPr>
              <a:t>280 new unicorns in one year — 3× any pre-2019 year. Rate hikes ended the boom by 2022.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465576"/>
            <a:ext cx="8229600" cy="640080"/>
          </a:xfrm>
          <a:prstGeom prst="rect">
            <a:avLst/>
          </a:prstGeom>
          <a:solidFill>
            <a:srgbClr val="0D1F4A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65576"/>
            <a:ext cx="54864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557016"/>
            <a:ext cx="457200" cy="457200"/>
          </a:xfrm>
          <a:prstGeom prst="ellipse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Q4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70432" y="35387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time to unicorn: 7.3 years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70432" y="379476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8"/>
                </a:solidFill>
              </a:rPr>
              <a:t>AI/ML reaches $1B in 2.8 years. Biotech takes 11.2. Sector choice is the biggest factor.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224528"/>
            <a:ext cx="8229600" cy="640080"/>
          </a:xfrm>
          <a:prstGeom prst="rect">
            <a:avLst/>
          </a:prstGeom>
          <a:solidFill>
            <a:srgbClr val="0D1F4A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24528"/>
            <a:ext cx="54864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315968"/>
            <a:ext cx="457200" cy="4572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Q5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70432" y="42976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94% of unicorns survive past $1B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70432" y="455371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8"/>
                </a:solidFill>
              </a:rPr>
              <a:t>Only 6% fail. 14% go public. Most remain private or are successfully acquired.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90F21"/>
          </a:solidFill>
          <a:ln w="12700">
            <a:solidFill>
              <a:srgbClr val="090F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90195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A623"/>
                </a:solidFill>
              </a:rPr>
              <a:t>Questions welcome.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45059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8BFDC"/>
                </a:solidFill>
              </a:rPr>
              <a:t>This Power BI dashboard analyses 5,000 unicorn companies across 30 countries to answer 5 key questions about the global startup ecosystem.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63640" y="685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</a:rPr>
              <a:t>WHAT WAS BUILT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2560320" cy="594360"/>
          </a:xfrm>
          <a:prstGeom prst="rect">
            <a:avLst/>
          </a:prstGeom>
          <a:solidFill>
            <a:srgbClr val="162147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097280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170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5,000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0" y="12618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8"/>
                </a:solidFill>
              </a:rPr>
              <a:t>data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847088"/>
            <a:ext cx="2560320" cy="594360"/>
          </a:xfrm>
          <a:prstGeom prst="rect">
            <a:avLst/>
          </a:prstGeom>
          <a:solidFill>
            <a:srgbClr val="162147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847088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920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0" y="2011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8"/>
                </a:solidFill>
              </a:rPr>
              <a:t>tables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2596896"/>
            <a:ext cx="2560320" cy="594360"/>
          </a:xfrm>
          <a:prstGeom prst="rect">
            <a:avLst/>
          </a:prstGeom>
          <a:solidFill>
            <a:srgbClr val="162147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596896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6700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98080" y="27614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8"/>
                </a:solidFill>
              </a:rPr>
              <a:t>pages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346704"/>
            <a:ext cx="2560320" cy="594360"/>
          </a:xfrm>
          <a:prstGeom prst="rect">
            <a:avLst/>
          </a:prstGeom>
          <a:solidFill>
            <a:srgbClr val="162147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346704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4198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35112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8"/>
                </a:solidFill>
              </a:rPr>
              <a:t>DAX measures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4096512"/>
            <a:ext cx="2560320" cy="594360"/>
          </a:xfrm>
          <a:prstGeom prst="rect">
            <a:avLst/>
          </a:prstGeom>
          <a:solidFill>
            <a:srgbClr val="162147"/>
          </a:solidFill>
          <a:ln w="12700">
            <a:solidFill>
              <a:srgbClr val="1E356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4096512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169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98080" y="4261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8"/>
                </a:solidFill>
              </a:rPr>
              <a:t>insights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7091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070"/>
                </a:solidFill>
              </a:rPr>
              <a:t>Presented by Saad  ·  Power BI Capstone  ·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Unicorn Tracker — Capstone Presentation</dc:title>
  <dc:subject>PptxGenJS Presentation</dc:subject>
  <dc:creator>Saad</dc:creator>
  <cp:lastModifiedBy>Saad</cp:lastModifiedBy>
  <cp:revision>1</cp:revision>
  <dcterms:created xsi:type="dcterms:W3CDTF">2026-04-13T07:59:40Z</dcterms:created>
  <dcterms:modified xsi:type="dcterms:W3CDTF">2026-04-13T07:59:40Z</dcterms:modified>
</cp:coreProperties>
</file>